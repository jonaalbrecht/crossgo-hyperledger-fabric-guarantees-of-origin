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paper addresses the design challenge of interoperable Guarantee of Origin schemes across multiple energy carriers (electricity, hydrogen, biogas, heating). RED III mandates cross-carrier GO support. We use Design Science Research to derive 4 design principles and instantiate them in a Hyperledger Fabric prototype developed over 8 iterative cycles. GitHub repository: to be linked in final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prototype was built over 8 iterative design cycles. v1-v3 during the master thesis (2 years ago), v4-v7 extending to production-grade quality, v8 introducing multi-channel architecture. The full-stack includes Go chaincode (10 namespaces, ~50 functions), Node.js/TypeScript backend, and React/TypeScript frontend. Benchmarked on a Hetzner VM using Hyperledger Caliper. GitHub link will be in the paper — blind review no longer required. Note: 8 semi-structured interviews were conducted during the master thesis phase to elicit requirements from domain experts, but these were not used for artifact evaluation — only for initial requirements gathering. Consider including them in the paper for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to address:</a:t>
            </a:r>
          </a:p>
          <a:p>
            <a:r>
              <a:t>1) GitHub link: Paper is past blind review stage, so including the repo URL is fine.</a:t>
            </a:r>
          </a:p>
          <a:p>
            <a:r>
              <a:t>2) Interviews: 8 semi-structured interviews were conducted 2 years ago during the master thesis to gather requirements. They were NOT used for artifact evaluation — only for initial requirement elicitation. Including them adds methodological depth but they are not strictly necessary for the DSR contribution.</a:t>
            </a:r>
          </a:p>
          <a:p>
            <a:r>
              <a:t>3) Open for questions on design principles, Fabric architecture, or evaluation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defRPr sz="3600" b="1">
                <a:solidFill>
                  <a:srgbClr val="B10034"/>
                </a:solidFill>
                <a:latin typeface="Trebuchet MS"/>
              </a:defRPr>
            </a:pPr>
            <a:r>
              <a:t>All Carriers Allowed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4F788C"/>
                </a:solidFill>
                <a:latin typeface="Trebuchet MS"/>
              </a:defRPr>
            </a:pPr>
            <a:r>
              <a:t>Design Principles for DLT-Based Cross-Domain Data Sharing</a:t>
            </a:r>
            <a:br/>
            <a:r>
              <a:t>Between Guarantee of Origin Schemes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00" cy="27432"/>
          </a:xfrm>
          <a:prstGeom prst="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9B9B9B"/>
                </a:solidFill>
                <a:latin typeface="Trebuchet MS"/>
              </a:defRPr>
            </a:pPr>
            <a:r>
              <a:t>Jonathan Albrecht  |  ICIS 2026  |  FIM Research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515600" cy="10972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RQ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80360"/>
            <a:ext cx="502920" cy="320040"/>
          </a:xfrm>
          <a:prstGeom prst="roundRect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RQ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>
                <a:solidFill>
                  <a:srgbClr val="181818"/>
                </a:solidFill>
                <a:latin typeface="Trebuchet MS"/>
              </a:defRPr>
            </a:pPr>
            <a:r>
              <a:t>How to design an information system of interoperable GO schemes that allows</a:t>
            </a:r>
            <a:br/>
            <a:r>
              <a:t>verifiable cross-domain data sharing and asset transfer to enable energy</a:t>
            </a:r>
            <a:br/>
            <a:r>
              <a:t>carrier conversion processes in multi-carrier energy systems?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3200400" cy="54864"/>
          </a:xfrm>
          <a:prstGeom prst="rect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B10034"/>
                </a:solidFill>
                <a:latin typeface="Trebuchet MS"/>
              </a:defRPr>
            </a:pPr>
            <a:r>
              <a:t>Paper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Design Science Research (Hevner 2004)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8 iterative design cycles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Multi-vocal literature review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4 design principles (Gregor et al. 2020)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2062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4206240"/>
            <a:ext cx="3200400" cy="54864"/>
          </a:xfrm>
          <a:prstGeom prst="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4F788C"/>
                </a:solidFill>
                <a:latin typeface="Trebuchet MS"/>
              </a:defRPr>
            </a:pPr>
            <a:r>
              <a:t>Contributions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4 empirically grounded design principles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Full-stack HLF prototype (v8.0)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Caliper benchmarks: 50 TPS write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Nascent design theory for GO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2062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4206240"/>
            <a:ext cx="3200400" cy="54864"/>
          </a:xfrm>
          <a:prstGeom prst="rect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B10034"/>
                </a:solidFill>
                <a:latin typeface="Trebuchet MS"/>
              </a:defRPr>
            </a:pPr>
            <a:r>
              <a:t>Aim &amp;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RED III mandates multi-carrier GOs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Cross-carrier conversion issuance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Privacy + verifiability trade-off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Scalable to EU-wide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000" b="0">
                <a:solidFill>
                  <a:srgbClr val="9B9B9B"/>
                </a:solidFill>
                <a:latin typeface="Trebuchet MS"/>
              </a:defRPr>
            </a:pPr>
            <a:r>
              <a:t>FIM Research Center | ICIS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000" b="0">
                <a:solidFill>
                  <a:srgbClr val="9B9B9B"/>
                </a:solidFill>
                <a:latin typeface="Trebuchet M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800" b="1">
                <a:solidFill>
                  <a:srgbClr val="4F788C"/>
                </a:solidFill>
                <a:latin typeface="Trebuchet MS"/>
              </a:defRPr>
            </a:pPr>
            <a:r>
              <a:t>Hyperledger Fabric Prototype — Why, How &amp; What We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3657600" cy="27432"/>
          </a:xfrm>
          <a:prstGeom prst="rect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Why Hyperledger Fabric?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Permissioned: known participants (national issuing bodies)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Private data collections for confidential GO attributes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Channel architecture for carrier/region data partitioning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Execute-order-validate flow for deterministic smart contracts</a:t>
            </a:r>
          </a:p>
          <a:p>
            <a:pPr>
              <a:lnSpc>
                <a:spcPts val="1800"/>
              </a:lnSpc>
              <a:spcBef>
                <a:spcPts val="600"/>
              </a:spcBef>
              <a:defRPr sz="1300">
                <a:solidFill>
                  <a:srgbClr val="646464"/>
                </a:solidFill>
                <a:latin typeface="Trebuchet MS"/>
              </a:defRPr>
            </a:pPr>
            <a:r>
              <a:t>Raft consensus: crash-fault-tolerant, enterprise-grade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How — 8 Iterative Design Cycles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594360" cy="274320"/>
          </a:xfrm>
          <a:prstGeom prst="round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v1–v3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733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646464"/>
                </a:solidFill>
                <a:latin typeface="Trebuchet MS"/>
              </a:defRPr>
            </a:pPr>
            <a:r>
              <a:t>Master thesis: conceptual design,</a:t>
            </a:r>
            <a:br/>
            <a:r>
              <a:t>basic GO lifecycle, refinements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50008"/>
            <a:ext cx="594360" cy="274320"/>
          </a:xfrm>
          <a:prstGeom prst="round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v4–v5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31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646464"/>
                </a:solidFill>
                <a:latin typeface="Trebuchet MS"/>
              </a:defRPr>
            </a:pPr>
            <a:r>
              <a:t>Scalability (pagination, tombstones),</a:t>
            </a:r>
            <a:br/>
            <a:r>
              <a:t>CEN-EN 16325 alignment, CQRS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008376"/>
            <a:ext cx="594360" cy="274320"/>
          </a:xfrm>
          <a:prstGeom prst="round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v6–v7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9900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646464"/>
                </a:solidFill>
                <a:latin typeface="Trebuchet MS"/>
              </a:defRPr>
            </a:pPr>
            <a:r>
              <a:t>Crypto-secure commitments,</a:t>
            </a:r>
            <a:br/>
            <a:r>
              <a:t>bridge protocol, smart meter ECDSA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66744"/>
            <a:ext cx="594360" cy="274320"/>
          </a:xfrm>
          <a:prstGeom prst="round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v8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484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646464"/>
                </a:solidFill>
                <a:latin typeface="Trebuchet MS"/>
              </a:defRPr>
            </a:pPr>
            <a:r>
              <a:t>Multi-channel architecture:</a:t>
            </a:r>
            <a:br/>
            <a:r>
              <a:t>carrier-per-channel, Lock→Mint→Finalize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What We Achieved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50 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7190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646464"/>
                </a:solidFill>
                <a:latin typeface="Trebuchet MS"/>
              </a:defRPr>
            </a:pPr>
            <a:r>
              <a:t>sustained write throughput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2,000 TPS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176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646464"/>
                </a:solidFill>
                <a:latin typeface="Trebuchet MS"/>
              </a:defRPr>
            </a:pPr>
            <a:r>
              <a:t>read throughput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33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646464"/>
                </a:solidFill>
                <a:latin typeface="Trebuchet MS"/>
              </a:defRPr>
            </a:pPr>
            <a:r>
              <a:t>smart contract namespaces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~50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090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646464"/>
                </a:solidFill>
                <a:latin typeface="Trebuchet MS"/>
              </a:defRPr>
            </a:pPr>
            <a:r>
              <a:t>exported chaincode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1">
                <a:solidFill>
                  <a:srgbClr val="B10034"/>
                </a:solidFill>
                <a:latin typeface="Trebuchet MS"/>
              </a:defRPr>
            </a:pPr>
            <a:r>
              <a:t>4-org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547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646464"/>
                </a:solidFill>
                <a:latin typeface="Trebuchet MS"/>
              </a:defRPr>
            </a:pPr>
            <a:r>
              <a:t>Raft network on Hetzner VM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4F788C"/>
                </a:solidFill>
                <a:latin typeface="Trebuchet MS"/>
              </a:defRPr>
            </a:pPr>
            <a:r>
              <a:t>Full-Stack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1">
                <a:solidFill>
                  <a:srgbClr val="B10034"/>
                </a:solidFill>
                <a:latin typeface="Trebuchet MS"/>
              </a:defRPr>
            </a:pPr>
            <a:r>
              <a:t>Chaincode (Go)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646464"/>
                </a:solidFill>
                <a:latin typeface="Trebuchet MS"/>
              </a:defRPr>
            </a:pPr>
            <a:r>
              <a:t>10 namespaces: device, go, conversion,</a:t>
            </a:r>
            <a:br/>
            <a:r>
              <a:t>bridge, market, plausibility,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1">
                <a:solidFill>
                  <a:srgbClr val="B10034"/>
                </a:solidFill>
                <a:latin typeface="Trebuchet MS"/>
              </a:defRPr>
            </a:pPr>
            <a:r>
              <a:t>Backend (Node.js/TS)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166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646464"/>
                </a:solidFill>
                <a:latin typeface="Trebuchet MS"/>
              </a:defRPr>
            </a:pPr>
            <a:r>
              <a:t>REST API, Fabric Gateway SDK,</a:t>
            </a:r>
            <a:br/>
            <a:r>
              <a:t>Wallet management, event listeners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1">
                <a:solidFill>
                  <a:srgbClr val="B10034"/>
                </a:solidFill>
                <a:latin typeface="Trebuchet MS"/>
              </a:defRPr>
            </a:pPr>
            <a:r>
              <a:t>Frontend (React/TS)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5166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646464"/>
                </a:solidFill>
                <a:latin typeface="Trebuchet MS"/>
              </a:defRPr>
            </a:pPr>
            <a:r>
              <a:t>Dashboard, GO lifecycle mgmt,</a:t>
            </a:r>
            <a:br/>
            <a:r>
              <a:t>cross-carrier conversion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9B9B9B"/>
                </a:solidFill>
                <a:latin typeface="Trebuchet MS"/>
              </a:defRPr>
            </a:pPr>
            <a:r>
              <a:t>Scalability tested on production-grade Hetzner VM (16 vCPU, 32 GB RAM) with Hyperledger Caliper v0.6.0 benchmarks  |  GitHub: github.com/[to-be-added]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000" b="0">
                <a:solidFill>
                  <a:srgbClr val="9B9B9B"/>
                </a:solidFill>
                <a:latin typeface="Trebuchet MS"/>
              </a:defRPr>
            </a:pPr>
            <a:r>
              <a:t>FIM Research Center | ICIS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000" b="0">
                <a:solidFill>
                  <a:srgbClr val="9B9B9B"/>
                </a:solidFill>
                <a:latin typeface="Trebuchet M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800" b="0">
                <a:solidFill>
                  <a:srgbClr val="FFBC7D"/>
                </a:solidFill>
                <a:latin typeface="Trebuchet MS"/>
              </a:defRPr>
            </a:pPr>
            <a:r>
              <a:t>Jonathan Albrecht  |  FIM Research Center  |  ICIS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4F788C"/>
                </a:solidFill>
                <a:latin typeface="Trebuchet MS"/>
              </a:defRPr>
            </a:pPr>
            <a:r>
              <a:t>Discussion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94760"/>
            <a:ext cx="2743200" cy="27432"/>
          </a:xfrm>
          <a:prstGeom prst="rect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4087368"/>
            <a:ext cx="109728" cy="109728"/>
          </a:xfrm>
          <a:prstGeom prst="ellipse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646464"/>
                </a:solidFill>
                <a:latin typeface="Trebuchet MS"/>
              </a:defRPr>
            </a:pPr>
            <a:r>
              <a:t>GitHub repository will be linked in paper</a:t>
            </a:r>
            <a:br/>
            <a:r>
              <a:t>(no longer under blind review)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754880"/>
            <a:ext cx="109728" cy="109728"/>
          </a:xfrm>
          <a:prstGeom prst="ellipse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6908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646464"/>
                </a:solidFill>
                <a:latin typeface="Trebuchet MS"/>
              </a:defRPr>
            </a:pPr>
            <a:r>
              <a:t>8 expert interviews from master thesis phase</a:t>
            </a:r>
            <a:br/>
            <a:r>
              <a:t>→ requirements elicitation, not artifact evaluation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5422392"/>
            <a:ext cx="109728" cy="109728"/>
          </a:xfrm>
          <a:prstGeom prst="ellipse">
            <a:avLst/>
          </a:prstGeom>
          <a:solidFill>
            <a:srgbClr val="B1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35838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646464"/>
                </a:solidFill>
                <a:latin typeface="Trebuchet MS"/>
              </a:defRPr>
            </a:pPr>
            <a:r>
              <a:t>Consider including interviews for</a:t>
            </a:r>
            <a:br/>
            <a:r>
              <a:t>methodological completeness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4087368"/>
            <a:ext cx="109728" cy="109728"/>
          </a:xfrm>
          <a:prstGeom prst="ellipse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646464"/>
                </a:solidFill>
                <a:latin typeface="Trebuchet MS"/>
              </a:defRPr>
            </a:pPr>
            <a:r>
              <a:t>How generalizable are the design principles</a:t>
            </a:r>
            <a:br/>
            <a:r>
              <a:t>beyond the EU GO market context?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754880"/>
            <a:ext cx="109728" cy="109728"/>
          </a:xfrm>
          <a:prstGeom prst="ellipse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69087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646464"/>
                </a:solidFill>
                <a:latin typeface="Trebuchet MS"/>
              </a:defRPr>
            </a:pPr>
            <a:r>
              <a:t>Channel-per-carrier vs. channel-per-region</a:t>
            </a:r>
            <a:br/>
            <a:r>
              <a:t>partitioning trade-offs?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5422392"/>
            <a:ext cx="109728" cy="109728"/>
          </a:xfrm>
          <a:prstGeom prst="ellipse">
            <a:avLst/>
          </a:prstGeom>
          <a:solidFill>
            <a:srgbClr val="4F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535838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646464"/>
                </a:solidFill>
                <a:latin typeface="Trebuchet MS"/>
              </a:defRPr>
            </a:pPr>
            <a:r>
              <a:t>Next steps: pilot with national issuing body,</a:t>
            </a:r>
            <a:br/>
            <a:r>
              <a:t>real-world metering device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126480"/>
            <a:ext cx="1069848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>
                <a:solidFill>
                  <a:srgbClr val="9B9B9B"/>
                </a:solidFill>
                <a:latin typeface="Trebuchet MS"/>
              </a:defRPr>
            </a:pPr>
            <a:r>
              <a:t>fim-rc.de  |  Universität Bayreuth &amp; Technische Hochschule Augsburg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000" b="0">
                <a:solidFill>
                  <a:srgbClr val="9B9B9B"/>
                </a:solidFill>
                <a:latin typeface="Trebuchet M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000" b="0">
                <a:solidFill>
                  <a:srgbClr val="9B9B9B"/>
                </a:solidFill>
                <a:latin typeface="Trebuchet M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